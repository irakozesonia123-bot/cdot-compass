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dot-log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35024"/>
            <a:ext cx="932688" cy="932688"/>
          </a:xfrm>
          <a:prstGeom prst="rect">
            <a:avLst/>
          </a:prstGeom>
          <a:effectLst/>
        </p:spPr>
      </p:pic>
      <p:sp>
        <p:nvSpPr>
          <p:cNvPr id="5" name="Oval 4"/>
          <p:cNvSpPr/>
          <p:nvPr/>
        </p:nvSpPr>
        <p:spPr>
          <a:xfrm>
            <a:off x="822960" y="1335024"/>
            <a:ext cx="932688" cy="932688"/>
          </a:xfrm>
          <a:prstGeom prst="ellipse">
            <a:avLst/>
          </a:prstGeom>
          <a:noFill/>
          <a:ln w="15875">
            <a:solidFill>
              <a:srgbClr val="6E8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417320"/>
            <a:ext cx="7315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BC4E0"/>
                </a:solidFill>
                <a:latin typeface="Arial"/>
              </a:rPr>
              <a:t>CDOT Compass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7FA8D6"/>
                </a:solidFill>
                <a:latin typeface="Arial"/>
              </a:rPr>
              <a:t>INTELLIGENT CAREER NAVIGATION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8892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Find your way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8FB4E6"/>
                </a:solidFill>
                <a:latin typeface="Arial"/>
              </a:rPr>
              <a:t>across CDOT.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8869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C7D6EA"/>
                </a:solidFill>
                <a:latin typeface="Arial"/>
              </a:rPr>
              <a:t>Helping employees discover opportunities, build relationships,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C7D6EA"/>
                </a:solidFill>
                <a:latin typeface="Arial"/>
              </a:rPr>
              <a:t>and navigate careers across CDOT.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779008"/>
            <a:ext cx="50292" cy="566928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76072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Sonia Irakoze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FB6D4"/>
                </a:solidFill>
                <a:latin typeface="Arial"/>
              </a:rPr>
              <a:t>Staff Bridge Intern  ·  CDOT Innovation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815584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1">
                <a:solidFill>
                  <a:srgbClr val="7FA8D6"/>
                </a:solidFill>
                <a:latin typeface="Arial"/>
              </a:rPr>
              <a:t>LIVE DEMO</a:t>
            </a:r>
          </a:p>
          <a:p>
            <a:pPr algn="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cdot-compass.vercel.app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310896" cy="77724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57B8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6868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300" b="1">
                <a:solidFill>
                  <a:srgbClr val="13294B"/>
                </a:solidFill>
                <a:latin typeface="Arial"/>
              </a:rPr>
              <a:t>The opportunities were everywhere.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300" b="1">
                <a:solidFill>
                  <a:srgbClr val="13294B"/>
                </a:solidFill>
                <a:latin typeface="Arial"/>
              </a:rPr>
              <a:t>They just weren't easy to find.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5321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450" b="0">
                <a:solidFill>
                  <a:srgbClr val="16202C"/>
                </a:solidFill>
                <a:latin typeface="Arial"/>
              </a:rPr>
              <a:t>Some of the best parts of my internship happened in conversation — at lunch, at a networking event, in passing. That's how I heard about a mentor in another division, an exciting field day out on an active project site, a project that could use a fresh set of eyes.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450" b="0">
                <a:solidFill>
                  <a:srgbClr val="16202C"/>
                </a:solidFill>
                <a:latin typeface="Arial"/>
              </a:rPr>
              <a:t>CDOT already offers so much of this. It's just spread across emails, resource sites, Teams, networking events, and the people who happen to know — so for a new intern, a lot comes down to who you talk to.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1">
                <a:solidFill>
                  <a:srgbClr val="13294B"/>
                </a:solidFill>
                <a:latin typeface="Arial"/>
              </a:rPr>
              <a:t>I kept wondering how much I might be missing simply because I didn't know where to look.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2148840"/>
            <a:ext cx="461772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23317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573"/>
                </a:solidFill>
                <a:latin typeface="Arial"/>
              </a:rPr>
              <a:t>WHERE THE INFORMATION LIVES TODAY</a:t>
            </a:r>
          </a:p>
        </p:txBody>
      </p:sp>
      <p:sp>
        <p:nvSpPr>
          <p:cNvPr id="8" name="Rounded Rectangle 7"/>
          <p:cNvSpPr/>
          <p:nvPr/>
        </p:nvSpPr>
        <p:spPr>
          <a:xfrm rot="21360000">
            <a:off x="7040880" y="2880360"/>
            <a:ext cx="772668" cy="457200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12700">
            <a:solidFill>
              <a:srgbClr val="C9D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1360000">
            <a:off x="7040880" y="2880360"/>
            <a:ext cx="7726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Email</a:t>
            </a:r>
          </a:p>
        </p:txBody>
      </p:sp>
      <p:sp>
        <p:nvSpPr>
          <p:cNvPr id="10" name="Rounded Rectangle 9"/>
          <p:cNvSpPr/>
          <p:nvPr/>
        </p:nvSpPr>
        <p:spPr>
          <a:xfrm rot="180000">
            <a:off x="8732520" y="2788920"/>
            <a:ext cx="1705356" cy="457200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12700">
            <a:solidFill>
              <a:srgbClr val="C9D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180000">
            <a:off x="8732520" y="2788920"/>
            <a:ext cx="17053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Resource websites</a:t>
            </a:r>
          </a:p>
        </p:txBody>
      </p:sp>
      <p:sp>
        <p:nvSpPr>
          <p:cNvPr id="12" name="Rounded Rectangle 11"/>
          <p:cNvSpPr/>
          <p:nvPr/>
        </p:nvSpPr>
        <p:spPr>
          <a:xfrm rot="120000">
            <a:off x="7223760" y="3611880"/>
            <a:ext cx="772668" cy="457200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12700">
            <a:solidFill>
              <a:srgbClr val="C9D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120000">
            <a:off x="7223760" y="3611880"/>
            <a:ext cx="7726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Teams</a:t>
            </a:r>
          </a:p>
        </p:txBody>
      </p:sp>
      <p:sp>
        <p:nvSpPr>
          <p:cNvPr id="14" name="Rounded Rectangle 13"/>
          <p:cNvSpPr/>
          <p:nvPr/>
        </p:nvSpPr>
        <p:spPr>
          <a:xfrm rot="21420000">
            <a:off x="8869680" y="3657600"/>
            <a:ext cx="1705356" cy="457200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12700">
            <a:solidFill>
              <a:srgbClr val="C9D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21420000">
            <a:off x="8869680" y="3657600"/>
            <a:ext cx="17053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Networking events</a:t>
            </a:r>
          </a:p>
        </p:txBody>
      </p:sp>
      <p:sp>
        <p:nvSpPr>
          <p:cNvPr id="16" name="Rounded Rectangle 15"/>
          <p:cNvSpPr/>
          <p:nvPr/>
        </p:nvSpPr>
        <p:spPr>
          <a:xfrm rot="21480000">
            <a:off x="6995160" y="4434840"/>
            <a:ext cx="2016252" cy="457200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12700">
            <a:solidFill>
              <a:srgbClr val="C9D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 rot="21480000">
            <a:off x="6995160" y="4434840"/>
            <a:ext cx="20162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Hallway conversations</a:t>
            </a:r>
          </a:p>
        </p:txBody>
      </p:sp>
      <p:sp>
        <p:nvSpPr>
          <p:cNvPr id="18" name="Rounded Rectangle 17"/>
          <p:cNvSpPr/>
          <p:nvPr/>
        </p:nvSpPr>
        <p:spPr>
          <a:xfrm rot="240000">
            <a:off x="9144000" y="4526280"/>
            <a:ext cx="1860804" cy="457200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12700">
            <a:solidFill>
              <a:srgbClr val="C9D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 rot="240000">
            <a:off x="9144000" y="4526280"/>
            <a:ext cx="18608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In someone's memory</a:t>
            </a:r>
          </a:p>
        </p:txBody>
      </p:sp>
      <p:sp>
        <p:nvSpPr>
          <p:cNvPr id="20" name="Rounded Rectangle 19"/>
          <p:cNvSpPr/>
          <p:nvPr/>
        </p:nvSpPr>
        <p:spPr>
          <a:xfrm rot="60000">
            <a:off x="7772400" y="5120640"/>
            <a:ext cx="1938528" cy="457200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12700">
            <a:solidFill>
              <a:srgbClr val="C9D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 rot="60000">
            <a:off x="7772400" y="5120640"/>
            <a:ext cx="1938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Individual employees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573"/>
                </a:solidFill>
                <a:latin typeface="Arial"/>
              </a:rPr>
              <a:t>CDOT Compass  ·  Innovation Challenge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419088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573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310896" cy="77724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57B8"/>
                </a:solidFill>
                <a:latin typeface="Arial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6868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300" b="1">
                <a:solidFill>
                  <a:srgbClr val="13294B"/>
                </a:solidFill>
                <a:latin typeface="Arial"/>
              </a:rPr>
              <a:t>When discovery is hard, everyone loses.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41985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13432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951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76856"/>
            <a:ext cx="227685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Arial"/>
              </a:rPr>
              <a:t>Interns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5B6573"/>
                </a:solidFill>
                <a:latin typeface="Arial"/>
              </a:rPr>
              <a:t>Spend weeks figuring out what already exists.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057400"/>
            <a:ext cx="341985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36008" y="2313432"/>
            <a:ext cx="566928" cy="566928"/>
          </a:xfrm>
          <a:prstGeom prst="ellipse">
            <a:avLst/>
          </a:prstGeom>
          <a:solidFill>
            <a:srgbClr val="2A7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2951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7528" y="2276856"/>
            <a:ext cx="227685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Arial"/>
              </a:rPr>
              <a:t>New employees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5B6573"/>
                </a:solidFill>
                <a:latin typeface="Arial"/>
              </a:rPr>
              <a:t>Onboard slower without a clear map of the org.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057400"/>
            <a:ext cx="341985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0456" y="2313432"/>
            <a:ext cx="566928" cy="566928"/>
          </a:xfrm>
          <a:prstGeom prst="ellipse">
            <a:avLst/>
          </a:prstGeom>
          <a:solidFill>
            <a:srgbClr val="2F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22951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1976" y="2276856"/>
            <a:ext cx="227685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Arial"/>
              </a:rPr>
              <a:t>Rotational engineers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5B6573"/>
                </a:solidFill>
                <a:latin typeface="Arial"/>
              </a:rPr>
              <a:t>Struggle to find their next-best rotation.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11880"/>
            <a:ext cx="341985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3867912"/>
            <a:ext cx="566928" cy="566928"/>
          </a:xfrm>
          <a:prstGeom prst="ellipse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84962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831336"/>
            <a:ext cx="227685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Arial"/>
              </a:rPr>
              <a:t>Mentors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5B6573"/>
                </a:solidFill>
                <a:latin typeface="Arial"/>
              </a:rPr>
              <a:t>Stay invisible to the people who need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3611880"/>
            <a:ext cx="341985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36008" y="3867912"/>
            <a:ext cx="566928" cy="566928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384962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3831336"/>
            <a:ext cx="227685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Arial"/>
              </a:rPr>
              <a:t>Managers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5B6573"/>
                </a:solidFill>
                <a:latin typeface="Arial"/>
              </a:rPr>
              <a:t>Can't easily surface their team's work.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3611880"/>
            <a:ext cx="341985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0456" y="3867912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384962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3831336"/>
            <a:ext cx="227685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Arial"/>
              </a:rPr>
              <a:t>CDOT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5B6573"/>
                </a:solidFill>
                <a:latin typeface="Arial"/>
              </a:rPr>
              <a:t>Misses chances to put talent where it thrives.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440680"/>
            <a:ext cx="10515600" cy="71323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440680"/>
            <a:ext cx="9966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The real cost: CDOT may unintentionally miss the chance to connect talented people with the divisions where they'd thrive.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573"/>
                </a:solidFill>
                <a:latin typeface="Arial"/>
              </a:rPr>
              <a:t>CDOT Compass  ·  Innovation Challenge Prototype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6419088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573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310896" cy="77724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57B8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6868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300" b="1">
                <a:solidFill>
                  <a:srgbClr val="13294B"/>
                </a:solidFill>
                <a:latin typeface="Arial"/>
              </a:rPr>
              <a:t>One place to discover everything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300" b="1">
                <a:solidFill>
                  <a:srgbClr val="13294B"/>
                </a:solidFill>
                <a:latin typeface="Arial"/>
              </a:rPr>
              <a:t>CDOT already offers.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16202C"/>
                </a:solidFill>
                <a:latin typeface="Arial"/>
              </a:rPr>
              <a:t>CDOT Compass doesn't create new programs. It makes the people, projects, and pathways that already exist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57B8"/>
                </a:solidFill>
                <a:latin typeface="Arial"/>
              </a:rPr>
              <a:t>visible, searchable, and easy to act on.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3703320"/>
            <a:ext cx="274320" cy="274320"/>
          </a:xfrm>
          <a:prstGeom prst="ellipse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6850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85032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Explore divisions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087368"/>
            <a:ext cx="274320" cy="274320"/>
          </a:xfrm>
          <a:prstGeom prst="ellipse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06908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06908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Discover projects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471416"/>
            <a:ext cx="274320" cy="274320"/>
          </a:xfrm>
          <a:prstGeom prst="ellipse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4531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53128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Find mentors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4855464"/>
            <a:ext cx="274320" cy="274320"/>
          </a:xfrm>
          <a:prstGeom prst="ellipse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83717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37176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Career pathways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239512"/>
            <a:ext cx="274320" cy="274320"/>
          </a:xfrm>
          <a:prstGeom prst="ellipse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2212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21224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Networking &amp; coffee chats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5623560"/>
            <a:ext cx="274320" cy="274320"/>
          </a:xfrm>
          <a:prstGeom prst="ellipse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605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605272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Resources &amp; events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" y="6007608"/>
            <a:ext cx="274320" cy="274320"/>
          </a:xfrm>
          <a:prstGeom prst="ellipse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9893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57B8"/>
                </a:solidFill>
                <a:latin typeface="Arial"/>
              </a:rPr>
              <a:t>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98932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Personalized discovery</a:t>
            </a:r>
          </a:p>
        </p:txBody>
      </p:sp>
      <p:pic>
        <p:nvPicPr>
          <p:cNvPr id="28" name="Picture 27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48840"/>
            <a:ext cx="5669280" cy="3809048"/>
          </a:xfrm>
          <a:prstGeom prst="rect">
            <a:avLst/>
          </a:prstGeom>
          <a:ln w="12700">
            <a:solidFill>
              <a:srgbClr val="E3E9F1"/>
            </a:solidFill>
          </a:ln>
          <a:effectLst/>
        </p:spPr>
      </p:pic>
      <p:sp>
        <p:nvSpPr>
          <p:cNvPr id="29" name="TextBox 28"/>
          <p:cNvSpPr txBox="1"/>
          <p:nvPr/>
        </p:nvSpPr>
        <p:spPr>
          <a:xfrm>
            <a:off x="5669280" y="605332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573"/>
                </a:solidFill>
                <a:latin typeface="Arial"/>
              </a:rPr>
              <a:t>A personalized home base — recommendations, saved items, and progress at a glance.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573"/>
                </a:solidFill>
                <a:latin typeface="Arial"/>
              </a:rPr>
              <a:t>CDOT Compass  ·  Innovation Challenge Prototype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6419088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573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310896" cy="77724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57B8"/>
                </a:solidFill>
                <a:latin typeface="Arial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6868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300" b="1">
                <a:solidFill>
                  <a:srgbClr val="13294B"/>
                </a:solidFill>
                <a:latin typeface="Arial"/>
              </a:rPr>
              <a:t>Everything an intern needs, in one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587752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423160"/>
            <a:ext cx="603504" cy="603504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40487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108960"/>
            <a:ext cx="2130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3294B"/>
                </a:solidFill>
                <a:latin typeface="Arial"/>
              </a:rPr>
              <a:t>Explore Divisions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B6573"/>
                </a:solidFill>
                <a:latin typeface="Arial"/>
              </a:rPr>
              <a:t>Browse every division and what they 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5304" y="2148840"/>
            <a:ext cx="2587752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31336" y="2423160"/>
            <a:ext cx="603504" cy="603504"/>
          </a:xfrm>
          <a:prstGeom prst="ellipse">
            <a:avLst/>
          </a:prstGeom>
          <a:solidFill>
            <a:srgbClr val="2F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6" y="240487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1336" y="3108960"/>
            <a:ext cx="2130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3294B"/>
                </a:solidFill>
                <a:latin typeface="Arial"/>
              </a:rPr>
              <a:t>People Directory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B6573"/>
                </a:solidFill>
                <a:latin typeface="Arial"/>
              </a:rPr>
              <a:t>Find colleagues, mentors, and their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148840"/>
            <a:ext cx="2587752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0" y="2423160"/>
            <a:ext cx="603504" cy="603504"/>
          </a:xfrm>
          <a:prstGeom prst="ellipse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0487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2130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3294B"/>
                </a:solidFill>
                <a:latin typeface="Arial"/>
              </a:rPr>
              <a:t>Project Explorer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B6573"/>
                </a:solidFill>
                <a:latin typeface="Arial"/>
              </a:rPr>
              <a:t>See cross-division work and phases.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9992" y="2148840"/>
            <a:ext cx="2587752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36024" y="2423160"/>
            <a:ext cx="603504" cy="603504"/>
          </a:xfrm>
          <a:prstGeom prst="ellipse">
            <a:avLst/>
          </a:prstGeom>
          <a:solidFill>
            <a:srgbClr val="2A7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6024" y="240487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3108960"/>
            <a:ext cx="2130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3294B"/>
                </a:solidFill>
                <a:latin typeface="Arial"/>
              </a:rPr>
              <a:t>Compass Guide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B6573"/>
                </a:solidFill>
                <a:latin typeface="Arial"/>
              </a:rPr>
              <a:t>Explainable, rules-based recommendations.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14800"/>
            <a:ext cx="2587752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8992" y="4389120"/>
            <a:ext cx="603504" cy="603504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37083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5074920"/>
            <a:ext cx="2130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3294B"/>
                </a:solidFill>
                <a:latin typeface="Arial"/>
              </a:rPr>
              <a:t>Coffee Chat &amp; Shadow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B6573"/>
                </a:solidFill>
                <a:latin typeface="Arial"/>
              </a:rPr>
              <a:t>Copy-ready outreach in two clicks.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75304" y="4114800"/>
            <a:ext cx="2587752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31336" y="4389120"/>
            <a:ext cx="603504" cy="603504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31336" y="437083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1336" y="5074920"/>
            <a:ext cx="2130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3294B"/>
                </a:solidFill>
                <a:latin typeface="Arial"/>
              </a:rPr>
              <a:t>Global Search ⌘K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B6573"/>
                </a:solidFill>
                <a:latin typeface="Arial"/>
              </a:rPr>
              <a:t>Jump to anything, instantly.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7648" y="4114800"/>
            <a:ext cx="2587752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0" y="4389120"/>
            <a:ext cx="603504" cy="603504"/>
          </a:xfrm>
          <a:prstGeom prst="ellipse">
            <a:avLst/>
          </a:prstGeom>
          <a:solidFill>
            <a:srgbClr val="2F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37083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074920"/>
            <a:ext cx="2130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3294B"/>
                </a:solidFill>
                <a:latin typeface="Arial"/>
              </a:rPr>
              <a:t>Resources &amp; Events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B6573"/>
                </a:solidFill>
                <a:latin typeface="Arial"/>
              </a:rPr>
              <a:t>Guides and meetups with calendar export.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9992" y="4114800"/>
            <a:ext cx="2587752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36024" y="4389120"/>
            <a:ext cx="603504" cy="603504"/>
          </a:xfrm>
          <a:prstGeom prst="ellipse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024" y="437083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6024" y="5074920"/>
            <a:ext cx="2130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3294B"/>
                </a:solidFill>
                <a:latin typeface="Arial"/>
              </a:rPr>
              <a:t>Executive Impact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5B6573"/>
                </a:solidFill>
                <a:latin typeface="Arial"/>
              </a:rPr>
              <a:t>A leadership view of engagement.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573"/>
                </a:solidFill>
                <a:latin typeface="Arial"/>
              </a:rPr>
              <a:t>CDOT Compass  ·  Innovation Challenge Prototype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6419088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573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310896" cy="77724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57B8"/>
                </a:solidFill>
                <a:latin typeface="Arial"/>
              </a:rPr>
              <a:t>PROTOTYPE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6868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300" b="1">
                <a:solidFill>
                  <a:srgbClr val="13294B"/>
                </a:solidFill>
                <a:latin typeface="Arial"/>
              </a:rPr>
              <a:t>A real, working product — not a mockup.</a:t>
            </a:r>
          </a:p>
        </p:txBody>
      </p:sp>
      <p:pic>
        <p:nvPicPr>
          <p:cNvPr id="5" name="Picture 4" descr="02-explore-div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3502152" cy="2353008"/>
          </a:xfrm>
          <a:prstGeom prst="rect">
            <a:avLst/>
          </a:prstGeom>
          <a:ln w="12700">
            <a:solidFill>
              <a:srgbClr val="E3E9F1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822960" y="4611576"/>
            <a:ext cx="3502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057B8"/>
                </a:solidFill>
                <a:latin typeface="Arial"/>
              </a:rPr>
              <a:t>1.  </a:t>
            </a:r>
            <a:r>
              <a:rPr sz="1300" b="1">
                <a:solidFill>
                  <a:srgbClr val="13294B"/>
                </a:solidFill>
                <a:latin typeface="Arial"/>
              </a:rPr>
              <a:t>Explore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Arial"/>
              </a:rPr>
              <a:t>Every division at a glance, filterable by focus area.</a:t>
            </a:r>
          </a:p>
        </p:txBody>
      </p:sp>
      <p:pic>
        <p:nvPicPr>
          <p:cNvPr id="7" name="Picture 6" descr="06-compass-gu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148840"/>
            <a:ext cx="3502152" cy="2353008"/>
          </a:xfrm>
          <a:prstGeom prst="rect">
            <a:avLst/>
          </a:prstGeom>
          <a:ln w="12700">
            <a:solidFill>
              <a:srgbClr val="E3E9F1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507992" y="4611576"/>
            <a:ext cx="3502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057B8"/>
                </a:solidFill>
                <a:latin typeface="Arial"/>
              </a:rPr>
              <a:t>2.  </a:t>
            </a:r>
            <a:r>
              <a:rPr sz="1300" b="1">
                <a:solidFill>
                  <a:srgbClr val="13294B"/>
                </a:solidFill>
                <a:latin typeface="Arial"/>
              </a:rPr>
              <a:t>Compass Guide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Arial"/>
              </a:rPr>
              <a:t>Answer a few questions; get explained recommendations.</a:t>
            </a:r>
          </a:p>
        </p:txBody>
      </p:sp>
      <p:pic>
        <p:nvPicPr>
          <p:cNvPr id="9" name="Picture 8" descr="04-employee-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148840"/>
            <a:ext cx="3502152" cy="2353008"/>
          </a:xfrm>
          <a:prstGeom prst="rect">
            <a:avLst/>
          </a:prstGeom>
          <a:ln w="12700">
            <a:solidFill>
              <a:srgbClr val="E3E9F1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8193024" y="4611576"/>
            <a:ext cx="3502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057B8"/>
                </a:solidFill>
                <a:latin typeface="Arial"/>
              </a:rPr>
              <a:t>3.  </a:t>
            </a:r>
            <a:r>
              <a:rPr sz="1300" b="1">
                <a:solidFill>
                  <a:srgbClr val="13294B"/>
                </a:solidFill>
                <a:latin typeface="Arial"/>
              </a:rPr>
              <a:t>Profiles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Arial"/>
              </a:rPr>
              <a:t>See a person's work, skills, and how to reach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573"/>
                </a:solidFill>
                <a:latin typeface="Arial"/>
              </a:rPr>
              <a:t>CDOT Compass  ·  Innovation Challenge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6419088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573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310896" cy="77724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57B8"/>
                </a:solidFill>
                <a:latin typeface="Arial"/>
              </a:rPr>
              <a:t>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6868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300" b="1">
                <a:solidFill>
                  <a:srgbClr val="13294B"/>
                </a:solidFill>
                <a:latin typeface="Arial"/>
              </a:rPr>
              <a:t>What better discovery unlocks.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F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057400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3294B"/>
                </a:solidFill>
                <a:latin typeface="Arial"/>
              </a:rPr>
              <a:t>Faster onboarding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Arial"/>
              </a:rPr>
              <a:t>Weeks of orientation compressed into minutes.</a:t>
            </a:r>
          </a:p>
        </p:txBody>
      </p:sp>
      <p:sp>
        <p:nvSpPr>
          <p:cNvPr id="8" name="Oval 7"/>
          <p:cNvSpPr/>
          <p:nvPr/>
        </p:nvSpPr>
        <p:spPr>
          <a:xfrm>
            <a:off x="6263640" y="2103120"/>
            <a:ext cx="457200" cy="457200"/>
          </a:xfrm>
          <a:prstGeom prst="ellipse">
            <a:avLst/>
          </a:prstGeom>
          <a:solidFill>
            <a:srgbClr val="2F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08483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8" y="2057400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3294B"/>
                </a:solidFill>
                <a:latin typeface="Arial"/>
              </a:rPr>
              <a:t>Better knowledge discovery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Arial"/>
              </a:rPr>
              <a:t>Hidden expertise becomes findable.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44368"/>
            <a:ext cx="457200" cy="457200"/>
          </a:xfrm>
          <a:prstGeom prst="ellipse">
            <a:avLst/>
          </a:prstGeom>
          <a:solidFill>
            <a:srgbClr val="2F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260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898648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3294B"/>
                </a:solidFill>
                <a:latin typeface="Arial"/>
              </a:rPr>
              <a:t>Cross-division collaboration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Arial"/>
              </a:rPr>
              <a:t>Teams connect beyond their silo.</a:t>
            </a:r>
          </a:p>
        </p:txBody>
      </p:sp>
      <p:sp>
        <p:nvSpPr>
          <p:cNvPr id="14" name="Oval 13"/>
          <p:cNvSpPr/>
          <p:nvPr/>
        </p:nvSpPr>
        <p:spPr>
          <a:xfrm>
            <a:off x="6263640" y="2944368"/>
            <a:ext cx="457200" cy="457200"/>
          </a:xfrm>
          <a:prstGeom prst="ellipse">
            <a:avLst/>
          </a:prstGeom>
          <a:solidFill>
            <a:srgbClr val="2F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9260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898648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3294B"/>
                </a:solidFill>
                <a:latin typeface="Arial"/>
              </a:rPr>
              <a:t>Stronger mentorship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Arial"/>
              </a:rPr>
              <a:t>Mentors and mentees actually find each other.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85615"/>
            <a:ext cx="457200" cy="457200"/>
          </a:xfrm>
          <a:prstGeom prst="ellipse">
            <a:avLst/>
          </a:prstGeom>
          <a:solidFill>
            <a:srgbClr val="2F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673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739896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3294B"/>
                </a:solidFill>
                <a:latin typeface="Arial"/>
              </a:rPr>
              <a:t>Internal mobility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Arial"/>
              </a:rPr>
              <a:t>People see where they could grow next.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3785615"/>
            <a:ext cx="457200" cy="457200"/>
          </a:xfrm>
          <a:prstGeom prst="ellipse">
            <a:avLst/>
          </a:prstGeom>
          <a:solidFill>
            <a:srgbClr val="2F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7673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3739896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3294B"/>
                </a:solidFill>
                <a:latin typeface="Arial"/>
              </a:rPr>
              <a:t>Employee engagement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Arial"/>
              </a:rPr>
              <a:t>Belonging from day one.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626864"/>
            <a:ext cx="457200" cy="457200"/>
          </a:xfrm>
          <a:prstGeom prst="ellipse">
            <a:avLst/>
          </a:prstGeom>
          <a:solidFill>
            <a:srgbClr val="2F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085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581144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3294B"/>
                </a:solidFill>
                <a:latin typeface="Arial"/>
              </a:rPr>
              <a:t>Talent retention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573"/>
                </a:solidFill>
                <a:latin typeface="Arial"/>
              </a:rPr>
              <a:t>Growth paths people want to stay for.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573"/>
                </a:solidFill>
                <a:latin typeface="Arial"/>
              </a:rPr>
              <a:t>CDOT Compass  ·  Innovation Challenge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419088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573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310896" cy="77724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57200"/>
                </a:solidFill>
                <a:latin typeface="Arial"/>
              </a:rP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6868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300" b="1">
                <a:solidFill>
                  <a:srgbClr val="13294B"/>
                </a:solidFill>
                <a:latin typeface="Arial"/>
              </a:rPr>
              <a:t>Where CDOT Compass could go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FF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57200"/>
                </a:solidFill>
                <a:latin typeface="Arial"/>
              </a:rPr>
              <a:t>⚑  PLANNED — NOT IN THE CURRENT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78608"/>
            <a:ext cx="2505456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578608"/>
            <a:ext cx="82296" cy="1591056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761488"/>
            <a:ext cx="2093976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Personal accounts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5B6573"/>
                </a:solidFill>
                <a:latin typeface="Arial"/>
              </a:rPr>
              <a:t>Sign in to keep your own saved items, history &amp; progress — the demo opens to a shared profile today.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2578608"/>
            <a:ext cx="2505456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3008" y="2578608"/>
            <a:ext cx="82296" cy="1591056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761488"/>
            <a:ext cx="2093976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Mobile app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5B6573"/>
                </a:solidFill>
                <a:latin typeface="Arial"/>
              </a:rPr>
              <a:t>An installable app so Compass travels with you on your phone.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578608"/>
            <a:ext cx="2505456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2578608"/>
            <a:ext cx="82296" cy="1591056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761488"/>
            <a:ext cx="2093976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AI Career Match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5B6573"/>
                </a:solidFill>
                <a:latin typeface="Arial"/>
              </a:rPr>
              <a:t>Recommend mentors, divisions &amp; projects from your goals — in plain language.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2578608"/>
            <a:ext cx="2505456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3104" y="2578608"/>
            <a:ext cx="82296" cy="1591056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8" y="2761488"/>
            <a:ext cx="2093976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Personalized recommendations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5B6573"/>
                </a:solidFill>
                <a:latin typeface="Arial"/>
              </a:rPr>
              <a:t>Suggestions that learn from your activity and interests.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70831"/>
            <a:ext cx="2505456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370831"/>
            <a:ext cx="82296" cy="1591056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4553712"/>
            <a:ext cx="2093976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Knowledge graph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5B6573"/>
                </a:solidFill>
                <a:latin typeface="Arial"/>
              </a:rPr>
              <a:t>A living map of how people, projects &amp; skills connect.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93008" y="4370831"/>
            <a:ext cx="2505456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93008" y="4370831"/>
            <a:ext cx="82296" cy="1591056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4553712"/>
            <a:ext cx="2093976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Skills matching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5B6573"/>
                </a:solidFill>
                <a:latin typeface="Arial"/>
              </a:rPr>
              <a:t>Surface the people and teams who have what you're building.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4370831"/>
            <a:ext cx="2505456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3056" y="4370831"/>
            <a:ext cx="82296" cy="1591056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53712"/>
            <a:ext cx="2093976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Project recommendations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5B6573"/>
                </a:solidFill>
                <a:latin typeface="Arial"/>
              </a:rPr>
              <a:t>Internal openings matched to your strengths.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33104" y="4370831"/>
            <a:ext cx="2505456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33104" y="4370831"/>
            <a:ext cx="82296" cy="1591056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8" y="4553712"/>
            <a:ext cx="2093976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3294B"/>
                </a:solidFill>
                <a:latin typeface="Arial"/>
              </a:rPr>
              <a:t>Learning pathways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5B6573"/>
                </a:solidFill>
                <a:latin typeface="Arial"/>
              </a:rPr>
              <a:t>Guided growth tracks toward each career goal.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573"/>
                </a:solidFill>
                <a:latin typeface="Arial"/>
              </a:rPr>
              <a:t>CDOT Compass  ·  Innovation Challenge Prototype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6419088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573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dot-log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960120"/>
            <a:ext cx="731520" cy="731520"/>
          </a:xfrm>
          <a:prstGeom prst="rect">
            <a:avLst/>
          </a:prstGeom>
          <a:effectLst/>
        </p:spPr>
      </p:pic>
      <p:sp>
        <p:nvSpPr>
          <p:cNvPr id="5" name="Oval 4"/>
          <p:cNvSpPr/>
          <p:nvPr/>
        </p:nvSpPr>
        <p:spPr>
          <a:xfrm>
            <a:off x="5733288" y="960120"/>
            <a:ext cx="731520" cy="731520"/>
          </a:xfrm>
          <a:prstGeom prst="ellipse">
            <a:avLst/>
          </a:prstGeom>
          <a:noFill/>
          <a:ln w="15875">
            <a:solidFill>
              <a:srgbClr val="6E8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44575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  <a:spcAft>
                <a:spcPts val="16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Every opportunity already exists.</a:t>
            </a:r>
          </a:p>
          <a:p>
            <a:pPr algn="ctr">
              <a:lnSpc>
                <a:spcPct val="114000"/>
              </a:lnSpc>
              <a:spcAft>
                <a:spcPts val="400"/>
              </a:spcAft>
            </a:pPr>
            <a:r>
              <a:rPr sz="3200" b="1">
                <a:solidFill>
                  <a:srgbClr val="8FB4E6"/>
                </a:solidFill>
                <a:latin typeface="Arial"/>
              </a:rPr>
              <a:t>CDOT Compass simply makes it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3200" b="1">
                <a:solidFill>
                  <a:srgbClr val="8FB4E6"/>
                </a:solidFill>
                <a:latin typeface="Arial"/>
              </a:rPr>
              <a:t>easier to discover.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5780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cdot-compass.vercel.app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9FB6D4"/>
                </a:solidFill>
                <a:latin typeface="Arial"/>
              </a:rPr>
              <a:t>Sonia Irakoze  ·  Staff Bridge Intern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